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Digital Lending: Portfolio Optimization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Digital Lending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Rise of embedded finance and instant credit models.</a:t>
            </a:r>
          </a:p>
          <a:p>
            <a:pPr/>
            <a:r>
              <a:rPr sz="2000"/>
              <a:t>Strategic shift from legacy branch-led lending to app-first ecosystems.</a:t>
            </a:r>
          </a:p>
          <a:p>
            <a:pPr/>
            <a:r>
              <a:rPr sz="2000"/>
              <a:t>Increased regulatory oversight focusing on data privacy and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Portfolio Optimization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Maximize net interest margin while strictly controlling credit risk.</a:t>
            </a:r>
          </a:p>
          <a:p>
            <a:pPr/>
            <a:r>
              <a:rPr sz="2000"/>
              <a:t>Improve the accuracy of borrower segmentation and profiling.</a:t>
            </a:r>
          </a:p>
          <a:p>
            <a:pPr/>
            <a:r>
              <a:rPr sz="2000"/>
              <a:t>Optimize capital allocation across diverse loan products to enhance liquidity.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Data-Driven Lending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Integration of alternative data sources for underwriting (e.g., utility payments, transaction data).</a:t>
            </a:r>
          </a:p>
          <a:p>
            <a:pPr/>
            <a:r>
              <a:rPr sz="2000"/>
              <a:t>Deployment of real-time behavioral analytics to monitor credit health.</a:t>
            </a:r>
          </a:p>
          <a:p>
            <a:pPr/>
            <a:r>
              <a:rPr sz="2000"/>
              <a:t>Scalable AI/ML engines for rapid credit scoring and decisioning.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Risk Segmentation &amp; Credit Scoring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Dynamic borrower risk categorization adapting to market fluctuations.</a:t>
            </a:r>
          </a:p>
          <a:p>
            <a:pPr/>
            <a:r>
              <a:rPr sz="2000"/>
              <a:t>Advanced Probability of Default (PD) modeling based on historical and real-time inputs.</a:t>
            </a:r>
          </a:p>
          <a:p>
            <a:pPr/>
            <a:r>
              <a:rPr sz="2000"/>
              <a:t>Implementation of early warning systems to flag potential delinquencies before default.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Portfolio Diversification Strategies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Geographic and demographic diversification to mitigate localized economic shocks.</a:t>
            </a:r>
          </a:p>
          <a:p>
            <a:pPr/>
            <a:r>
              <a:rPr sz="2000"/>
              <a:t>Strategic product-mix balancing between high-yield and low-risk assets.</a:t>
            </a:r>
          </a:p>
          <a:p>
            <a:pPr/>
            <a:r>
              <a:rPr sz="2000"/>
              <a:t>Exposure concentration controls to prevent over-reliance on single borrower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AI &amp; Predictive Analytics in Optimization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Predictive forecasting to anticipate portfolio performance trends.</a:t>
            </a:r>
          </a:p>
          <a:p>
            <a:pPr/>
            <a:r>
              <a:rPr sz="2000"/>
              <a:t>Automated pricing optimization models based on real-time risk profile.</a:t>
            </a:r>
          </a:p>
          <a:p>
            <a:pPr/>
            <a:r>
              <a:rPr sz="2000"/>
              <a:t>Smart collections and recovery workflows utilizing machine learning for prioritized outreach.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Regulatory &amp; Compliance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Adherence to evolving digital lending compliance frameworks.</a:t>
            </a:r>
          </a:p>
          <a:p>
            <a:pPr/>
            <a:r>
              <a:rPr sz="2000"/>
              <a:t>Robust model governance and data privacy controls.</a:t>
            </a:r>
          </a:p>
          <a:p>
            <a:pPr/>
            <a:r>
              <a:rPr sz="2000"/>
              <a:t>Ensuring Responsible AI and bias mitigation to align with fair lending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KPIs for Portfolio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NPA (Non-Performing Asset) ratio and delinquency tracking.</a:t>
            </a:r>
          </a:p>
          <a:p>
            <a:pPr/>
            <a:r>
              <a:rPr sz="2000"/>
              <a:t>Risk-Adjusted Return on Capital (RAROC) monitoring.</a:t>
            </a:r>
          </a:p>
          <a:p>
            <a:pPr/>
            <a:r>
              <a:rPr sz="2000"/>
              <a:t>Ongoing tracking of Customer Lifetime Value (CLV) and retention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Future of Digital Lending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idx="21" sz="half"/>
          </p:nvPr>
        </p:nvPicPr>
        <p:blipFill>
          <a:blip r:embed="rId2"/>
          <a:srcRect t="10520" b="1052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/>
            <a:r>
              <a:rPr sz="2000"/>
              <a:t>AI-driven autonomous lending ecosystems and fully integrated credit journeys will define the next generation of banking.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